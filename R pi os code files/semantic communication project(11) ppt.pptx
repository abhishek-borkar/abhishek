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3" r:id="rId1"/>
  </p:sldMasterIdLst>
  <p:sldIdLst>
    <p:sldId id="256" r:id="rId2"/>
    <p:sldId id="257" r:id="rId3"/>
    <p:sldId id="265" r:id="rId4"/>
    <p:sldId id="258" r:id="rId5"/>
    <p:sldId id="266" r:id="rId6"/>
    <p:sldId id="267" r:id="rId7"/>
    <p:sldId id="259" r:id="rId8"/>
    <p:sldId id="260" r:id="rId9"/>
    <p:sldId id="261" r:id="rId10"/>
    <p:sldId id="263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0445AE-E7B8-4CF0-A0BE-39C360924D81}" v="88" dt="2026-04-03T11:27:52.5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1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2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4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10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40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82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0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29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88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48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4039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2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84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13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85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83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75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4" r:id="rId1"/>
    <p:sldLayoutId id="2147484195" r:id="rId2"/>
    <p:sldLayoutId id="2147484196" r:id="rId3"/>
    <p:sldLayoutId id="2147484197" r:id="rId4"/>
    <p:sldLayoutId id="2147484198" r:id="rId5"/>
    <p:sldLayoutId id="2147484199" r:id="rId6"/>
    <p:sldLayoutId id="2147484200" r:id="rId7"/>
    <p:sldLayoutId id="2147484201" r:id="rId8"/>
    <p:sldLayoutId id="2147484202" r:id="rId9"/>
    <p:sldLayoutId id="2147484203" r:id="rId10"/>
    <p:sldLayoutId id="2147484204" r:id="rId11"/>
    <p:sldLayoutId id="2147484205" r:id="rId12"/>
    <p:sldLayoutId id="2147484206" r:id="rId13"/>
    <p:sldLayoutId id="2147484207" r:id="rId14"/>
    <p:sldLayoutId id="2147484208" r:id="rId15"/>
    <p:sldLayoutId id="2147484209" r:id="rId16"/>
    <p:sldLayoutId id="214748421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share/f6e87101769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share/97da33997655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379886" y="2890032"/>
            <a:ext cx="10076547" cy="483926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Arial Black" panose="020B0A04020102020204" pitchFamily="34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Design and Implementation of Semantic Communication</a:t>
            </a:r>
            <a:endParaRPr sz="2400" b="1" dirty="0">
              <a:latin typeface="Arial Black" panose="020B0A04020102020204" pitchFamily="34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369249" y="585586"/>
            <a:ext cx="9834798" cy="767659"/>
          </a:xfrm>
        </p:spPr>
        <p:txBody>
          <a:bodyPr>
            <a:noAutofit/>
          </a:bodyPr>
          <a:lstStyle/>
          <a:p>
            <a:pPr algn="ctr"/>
            <a:r>
              <a:rPr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ST. VINCENT PALLOTTI </a:t>
            </a:r>
            <a:endParaRPr lang="en-IN" sz="2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r>
              <a:rPr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COLLEGE OF ENGINEERING &amp;</a:t>
            </a:r>
            <a:r>
              <a:rPr lang="en-IN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-US" sz="2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TECHNOLOGY, NAGPUR</a:t>
            </a:r>
            <a:endParaRPr lang="en-IN" sz="2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A537D-7715-94E3-7FB7-720D7C24A250}"/>
              </a:ext>
            </a:extLst>
          </p:cNvPr>
          <p:cNvSpPr txBox="1"/>
          <p:nvPr/>
        </p:nvSpPr>
        <p:spPr>
          <a:xfrm>
            <a:off x="2651778" y="4117227"/>
            <a:ext cx="40095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latin typeface="Aptos Narrow" panose="020B0004020202020204" pitchFamily="34" charset="0"/>
              </a:rPr>
              <a:t>Presented by: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Sonal Surkar (23003061)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Anshu </a:t>
            </a:r>
            <a:r>
              <a:rPr lang="en-IN" sz="2000" b="1" dirty="0" err="1"/>
              <a:t>Sukare</a:t>
            </a:r>
            <a:r>
              <a:rPr lang="en-IN" sz="2000" b="1" dirty="0"/>
              <a:t> (23003062)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Abhishek Borkar(23003063)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b="1" dirty="0"/>
              <a:t>Tushar Mankar (21003051)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29F15-7091-7AFD-9C5A-2F2F2B8A7472}"/>
              </a:ext>
            </a:extLst>
          </p:cNvPr>
          <p:cNvSpPr txBox="1"/>
          <p:nvPr/>
        </p:nvSpPr>
        <p:spPr>
          <a:xfrm>
            <a:off x="5516545" y="3397771"/>
            <a:ext cx="350687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latin typeface="Aptos Narrow" panose="020B0004020202020204" pitchFamily="34" charset="0"/>
              </a:rPr>
              <a:t>Industry Guide:</a:t>
            </a:r>
          </a:p>
          <a:p>
            <a:pPr algn="ctr"/>
            <a:r>
              <a:rPr lang="sv-SE" sz="2000" b="1" dirty="0"/>
              <a:t>Prof. Dr. Prabhat Sharma </a:t>
            </a:r>
          </a:p>
          <a:p>
            <a:pPr algn="ctr"/>
            <a:r>
              <a:rPr lang="sv-SE" sz="2000" b="1" dirty="0"/>
              <a:t>(VNIT)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AA53A-9DDC-7599-FD22-09AC92DAD3AC}"/>
              </a:ext>
            </a:extLst>
          </p:cNvPr>
          <p:cNvSpPr txBox="1"/>
          <p:nvPr/>
        </p:nvSpPr>
        <p:spPr>
          <a:xfrm>
            <a:off x="62953" y="3390302"/>
            <a:ext cx="38458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u="sng" dirty="0">
                <a:latin typeface="Aptos Narrow" panose="020B0004020202020204" pitchFamily="34" charset="0"/>
              </a:rPr>
              <a:t>Project Guide :</a:t>
            </a:r>
          </a:p>
          <a:p>
            <a:pPr algn="ctr"/>
            <a:r>
              <a:rPr lang="en-IN" sz="2000" b="1" dirty="0"/>
              <a:t>Prof. Dr. Madhura Kulkarni (SVPCET)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0A3810-29B3-C64A-B6A9-6EA80A6570F5}"/>
              </a:ext>
            </a:extLst>
          </p:cNvPr>
          <p:cNvSpPr txBox="1"/>
          <p:nvPr/>
        </p:nvSpPr>
        <p:spPr>
          <a:xfrm>
            <a:off x="929474" y="1593374"/>
            <a:ext cx="7129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ptos" panose="020B0004020202020204" pitchFamily="34" charset="0"/>
              </a:rPr>
              <a:t>(Department of Electronics &amp; Telecommunication Engineering)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B6683-AF0B-D5C4-1578-BAE9E4B14062}"/>
              </a:ext>
            </a:extLst>
          </p:cNvPr>
          <p:cNvSpPr txBox="1"/>
          <p:nvPr/>
        </p:nvSpPr>
        <p:spPr>
          <a:xfrm>
            <a:off x="2111859" y="2135709"/>
            <a:ext cx="4549451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latin typeface="Aptos Narrow" panose="020B0004020202020204" pitchFamily="34" charset="0"/>
              </a:rPr>
              <a:t>Academic Year: 2025–2026,  Semester: 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63" y="934719"/>
            <a:ext cx="8091949" cy="688818"/>
          </a:xfrm>
        </p:spPr>
        <p:txBody>
          <a:bodyPr>
            <a:noAutofit/>
          </a:bodyPr>
          <a:lstStyle/>
          <a:p>
            <a:pPr algn="ctr"/>
            <a:r>
              <a:rPr sz="60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C4679B-FA04-05B6-C51A-155AAEF60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67" y="2025349"/>
            <a:ext cx="8364224" cy="3805084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tx1"/>
                </a:solidFill>
              </a:rPr>
              <a:t>What is Communication System ?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Bahnschrift" panose="020B0502040204020203" pitchFamily="34" charset="0"/>
                <a:cs typeface="Arial" panose="020B0604020202020204" pitchFamily="34" charset="0"/>
              </a:rPr>
              <a:t>A system used to transfer information from one place to another.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Bahnschrift" panose="020B0502040204020203" pitchFamily="34" charset="0"/>
                <a:cs typeface="Arial" panose="020B0604020202020204" pitchFamily="34" charset="0"/>
              </a:rPr>
              <a:t>It consists of a transmitter, channel, and receiver.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Bahnschrift" panose="020B0502040204020203" pitchFamily="34" charset="0"/>
                <a:cs typeface="Arial" panose="020B0604020202020204" pitchFamily="34" charset="0"/>
              </a:rPr>
              <a:t>It enables communication of data, voice, and video signals.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2400" dirty="0">
              <a:latin typeface="Bahnschrift" panose="020B0502040204020203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400" b="1" dirty="0"/>
              <a:t>Block diagram </a:t>
            </a:r>
            <a:r>
              <a:rPr lang="en-IN" sz="2400" dirty="0">
                <a:latin typeface="Bahnschrift" panose="020B0502040204020203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Bahnschrift" panose="020B0502040204020203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to run simulation</a:t>
            </a:r>
            <a:endParaRPr lang="en-IN" sz="2400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CF4C8-BF32-833D-E0A0-5E0603886556}"/>
              </a:ext>
            </a:extLst>
          </p:cNvPr>
          <p:cNvSpPr txBox="1"/>
          <p:nvPr/>
        </p:nvSpPr>
        <p:spPr>
          <a:xfrm>
            <a:off x="1140541" y="4611329"/>
            <a:ext cx="4345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3EB5C-3967-29EA-C3A1-132DDE46A20A}"/>
              </a:ext>
            </a:extLst>
          </p:cNvPr>
          <p:cNvSpPr txBox="1"/>
          <p:nvPr/>
        </p:nvSpPr>
        <p:spPr>
          <a:xfrm>
            <a:off x="309717" y="1071384"/>
            <a:ext cx="5968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/>
              <a:t>What is Semantic Communication </a:t>
            </a:r>
            <a:r>
              <a:rPr lang="en-IN" b="1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A541F-F90A-8EDA-A647-98E1C9C50802}"/>
              </a:ext>
            </a:extLst>
          </p:cNvPr>
          <p:cNvSpPr txBox="1"/>
          <p:nvPr/>
        </p:nvSpPr>
        <p:spPr>
          <a:xfrm>
            <a:off x="265471" y="1583584"/>
            <a:ext cx="8672050" cy="474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Bahnschrift" panose="020B0502040204020203" pitchFamily="34" charset="0"/>
                <a:cs typeface="Arial" panose="020B060402020202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Semantic communication is a modern type of communication system that focuses on transmitting the meaning (semantics) of a message rather than the exact data or bits, making communication more efficient and intelligent.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Example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cs typeface="Arial" panose="020B0604020202020204" pitchFamily="34" charset="0"/>
              </a:rPr>
              <a:t>Traditional: “The temperature is 40°C”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Bahnschrift" panose="020B0502040204020203" pitchFamily="34" charset="0"/>
                <a:cs typeface="Arial" panose="020B0604020202020204" pitchFamily="34" charset="0"/>
              </a:rPr>
              <a:t>Semantic: “It is very hot today”</a:t>
            </a:r>
          </a:p>
          <a:p>
            <a:r>
              <a:rPr lang="en-US" dirty="0"/>
              <a:t>	(Both convey the same meaning, even though the words/data are different.)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 traditional communication systems, the goal is to send data accurately (bit-by-bit). But in semantic communication, the goal is to ensure the receiver understands the intended meaning, even if some data is lost or changed.</a:t>
            </a:r>
          </a:p>
        </p:txBody>
      </p:sp>
    </p:spTree>
    <p:extLst>
      <p:ext uri="{BB962C8B-B14F-4D97-AF65-F5344CB8AC3E}">
        <p14:creationId xmlns:p14="http://schemas.microsoft.com/office/powerpoint/2010/main" val="9852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47" y="1167093"/>
            <a:ext cx="6827521" cy="4505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tx1"/>
                </a:solidFill>
              </a:rPr>
              <a:t>Steps of Semantic Communications </a:t>
            </a:r>
          </a:p>
          <a:p>
            <a:pPr>
              <a:buFont typeface="Wingdings" panose="05000000000000000000" pitchFamily="2" charset="2"/>
              <a:buChar char="v"/>
            </a:pPr>
            <a:endParaRPr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309D-3049-511F-BF5E-649A9F5FE2D6}"/>
              </a:ext>
            </a:extLst>
          </p:cNvPr>
          <p:cNvSpPr txBox="1"/>
          <p:nvPr/>
        </p:nvSpPr>
        <p:spPr>
          <a:xfrm>
            <a:off x="475880" y="1613471"/>
            <a:ext cx="7591160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Bahnschrift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Message Creation</a:t>
            </a:r>
          </a:p>
          <a:p>
            <a:r>
              <a:rPr lang="en-US" dirty="0"/>
              <a:t>2. Semantic Representation/Compression(Semantic Encoding)</a:t>
            </a:r>
          </a:p>
          <a:p>
            <a:r>
              <a:rPr lang="en-US" dirty="0"/>
              <a:t>4. Transmission</a:t>
            </a:r>
          </a:p>
          <a:p>
            <a:r>
              <a:rPr lang="en-US" dirty="0"/>
              <a:t>5. Semantic Decoding</a:t>
            </a:r>
          </a:p>
          <a:p>
            <a:r>
              <a:rPr lang="en-US" dirty="0"/>
              <a:t>6. Knowledge Integration</a:t>
            </a:r>
          </a:p>
          <a:p>
            <a:r>
              <a:rPr lang="en-US" dirty="0"/>
              <a:t>7. Message Reconstruction (Final Output)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9E7FC5-83AA-7943-EB45-A21964704863}"/>
              </a:ext>
            </a:extLst>
          </p:cNvPr>
          <p:cNvSpPr txBox="1"/>
          <p:nvPr/>
        </p:nvSpPr>
        <p:spPr>
          <a:xfrm>
            <a:off x="475880" y="4894961"/>
            <a:ext cx="7429254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Bahnschrift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Text Data - Consists of characters, words, and numbers.</a:t>
            </a:r>
          </a:p>
          <a:p>
            <a:r>
              <a:rPr lang="en-US" dirty="0"/>
              <a:t>2. Audio (Voice) Data - Contains sound or speech signals.</a:t>
            </a:r>
          </a:p>
          <a:p>
            <a:r>
              <a:rPr lang="en-US" dirty="0"/>
              <a:t>3. Video Data - Combination of moving images + sound.</a:t>
            </a:r>
          </a:p>
          <a:p>
            <a:r>
              <a:rPr lang="en-US" dirty="0"/>
              <a:t>4. Image (Graphics) Data - Includes photos, diagrams, pictures.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75977-5F1A-7426-B3B5-A3B8CB3AF57E}"/>
              </a:ext>
            </a:extLst>
          </p:cNvPr>
          <p:cNvSpPr txBox="1"/>
          <p:nvPr/>
        </p:nvSpPr>
        <p:spPr>
          <a:xfrm>
            <a:off x="167147" y="4418694"/>
            <a:ext cx="424753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dirty="0"/>
              <a:t>Types of Data Transfer –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14BD-7CCC-E3CA-8A59-952DB41A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97" y="1209039"/>
            <a:ext cx="7020234" cy="110121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IN" sz="60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Objectives of Semantic Communication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31C60-7093-9C1E-696B-24393D821010}"/>
              </a:ext>
            </a:extLst>
          </p:cNvPr>
          <p:cNvSpPr txBox="1"/>
          <p:nvPr/>
        </p:nvSpPr>
        <p:spPr>
          <a:xfrm>
            <a:off x="734798" y="2635418"/>
            <a:ext cx="8978162" cy="2233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latin typeface="Bahnschrift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It allows transmission of text, image and video data by reducing data rate.</a:t>
            </a:r>
          </a:p>
          <a:p>
            <a:r>
              <a:rPr lang="en-IN" dirty="0"/>
              <a:t>It improves throughput.</a:t>
            </a:r>
          </a:p>
          <a:p>
            <a:r>
              <a:rPr lang="en-IN" dirty="0"/>
              <a:t>It increases communication speed and efficiency. </a:t>
            </a:r>
          </a:p>
        </p:txBody>
      </p:sp>
      <p:sp>
        <p:nvSpPr>
          <p:cNvPr id="13" name="TextBox 12">
            <a:hlinkClick r:id="rId2"/>
            <a:extLst>
              <a:ext uri="{FF2B5EF4-FFF2-40B4-BE49-F238E27FC236}">
                <a16:creationId xmlns:a16="http://schemas.microsoft.com/office/drawing/2014/main" id="{2945B2AE-0D9B-1342-CE12-E0C673E62FA8}"/>
              </a:ext>
            </a:extLst>
          </p:cNvPr>
          <p:cNvSpPr txBox="1"/>
          <p:nvPr/>
        </p:nvSpPr>
        <p:spPr>
          <a:xfrm>
            <a:off x="816077" y="5325348"/>
            <a:ext cx="6875043" cy="571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2400">
                <a:latin typeface="Bahnschrift" panose="020B0502040204020203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Block diagram : </a:t>
            </a:r>
            <a:r>
              <a:rPr lang="en-US" dirty="0"/>
              <a:t>Click here to run simulation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388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0E5D54-D066-13C1-2C4D-8AE3C4DAC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8" t="337" r="-990" b="-337"/>
          <a:stretch>
            <a:fillRect/>
          </a:stretch>
        </p:blipFill>
        <p:spPr>
          <a:xfrm>
            <a:off x="167148" y="1109829"/>
            <a:ext cx="8809703" cy="51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5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487" y="433275"/>
            <a:ext cx="6347713" cy="13208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60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F430706-3FD1-80A3-0714-45EA3E231A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563849"/>
              </p:ext>
            </p:extLst>
          </p:nvPr>
        </p:nvGraphicFramePr>
        <p:xfrm>
          <a:off x="249737" y="1457469"/>
          <a:ext cx="8721215" cy="52560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4243">
                  <a:extLst>
                    <a:ext uri="{9D8B030D-6E8A-4147-A177-3AD203B41FA5}">
                      <a16:colId xmlns:a16="http://schemas.microsoft.com/office/drawing/2014/main" val="1918109776"/>
                    </a:ext>
                  </a:extLst>
                </a:gridCol>
                <a:gridCol w="1744243">
                  <a:extLst>
                    <a:ext uri="{9D8B030D-6E8A-4147-A177-3AD203B41FA5}">
                      <a16:colId xmlns:a16="http://schemas.microsoft.com/office/drawing/2014/main" val="3581068260"/>
                    </a:ext>
                  </a:extLst>
                </a:gridCol>
                <a:gridCol w="1744243">
                  <a:extLst>
                    <a:ext uri="{9D8B030D-6E8A-4147-A177-3AD203B41FA5}">
                      <a16:colId xmlns:a16="http://schemas.microsoft.com/office/drawing/2014/main" val="2073419211"/>
                    </a:ext>
                  </a:extLst>
                </a:gridCol>
                <a:gridCol w="1744243">
                  <a:extLst>
                    <a:ext uri="{9D8B030D-6E8A-4147-A177-3AD203B41FA5}">
                      <a16:colId xmlns:a16="http://schemas.microsoft.com/office/drawing/2014/main" val="2044954156"/>
                    </a:ext>
                  </a:extLst>
                </a:gridCol>
                <a:gridCol w="1744243">
                  <a:extLst>
                    <a:ext uri="{9D8B030D-6E8A-4147-A177-3AD203B41FA5}">
                      <a16:colId xmlns:a16="http://schemas.microsoft.com/office/drawing/2014/main" val="3367842216"/>
                    </a:ext>
                  </a:extLst>
                </a:gridCol>
              </a:tblGrid>
              <a:tr h="2037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Paper Name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Method Used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Working Principle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Advantages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Limitations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extLst>
                  <a:ext uri="{0D108BD9-81ED-4DB2-BD59-A6C34878D82A}">
                    <a16:rowId xmlns:a16="http://schemas.microsoft.com/office/drawing/2014/main" val="3595663534"/>
                  </a:ext>
                </a:extLst>
              </a:tr>
              <a:tr h="6359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Physical Layer Security Analysis (2025)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Physical Layer Security + Semantic DL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Uses channel randomness + semantic encoding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Low latency, improved security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Trade-off with accuracy, channel dependent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extLst>
                  <a:ext uri="{0D108BD9-81ED-4DB2-BD59-A6C34878D82A}">
                    <a16:rowId xmlns:a16="http://schemas.microsoft.com/office/drawing/2014/main" val="2370497770"/>
                  </a:ext>
                </a:extLst>
              </a:tr>
              <a:tr h="5051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DeepSC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Deep Learning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Encodes meaning using neural networks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Works in low SNR, efficient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Black-box, model theft risk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extLst>
                  <a:ext uri="{0D108BD9-81ED-4DB2-BD59-A6C34878D82A}">
                    <a16:rowId xmlns:a16="http://schemas.microsoft.com/office/drawing/2014/main" val="1654592843"/>
                  </a:ext>
                </a:extLst>
              </a:tr>
              <a:tr h="678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Resource Allocation for Semantic Comm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Optimization-based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Allocates bandwidth using semantic importance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Efficient resource use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Complex, needs channel info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extLst>
                  <a:ext uri="{0D108BD9-81ED-4DB2-BD59-A6C34878D82A}">
                    <a16:rowId xmlns:a16="http://schemas.microsoft.com/office/drawing/2014/main" val="44226470"/>
                  </a:ext>
                </a:extLst>
              </a:tr>
              <a:tr h="5051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Semi-NOMA Semantic Communication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Hybrid Semantic + Bit Communication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Combines semantic &amp; traditional signals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Flexible and scalable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Interference complexity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7359" marR="67359" marT="0" marB="0" anchor="ctr"/>
                </a:tc>
                <a:extLst>
                  <a:ext uri="{0D108BD9-81ED-4DB2-BD59-A6C34878D82A}">
                    <a16:rowId xmlns:a16="http://schemas.microsoft.com/office/drawing/2014/main" val="1595907828"/>
                  </a:ext>
                </a:extLst>
              </a:tr>
              <a:tr h="8514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Semantic Communication on Digital Wireless Communication Systems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Semantic Encoding + Digital Wireless Integration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Maps semantic features into digital wireless signals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Improves efficiency over traditional comm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Depends on model accuracy, channel sensitivity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0397798"/>
                  </a:ext>
                </a:extLst>
              </a:tr>
              <a:tr h="8514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 Survey on Semantic Communications in Internet of Vehicles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Survey (Various ML/DL Methods)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Reviews semantic methods in IoV scenarios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Comprehensive overview, identifies challenges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No implementation, only analysis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2713294"/>
                  </a:ext>
                </a:extLst>
              </a:tr>
              <a:tr h="10246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An Autoencoder-Based Task-Oriented Semantic Communication System for M2M Communication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Autoencoder-based Deep Learning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End-to-end learning for task-oriented communication</a:t>
                      </a:r>
                      <a:endParaRPr lang="en-IN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High efficiency, task-specific optimization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Requires training data, generalization issues</a:t>
                      </a:r>
                      <a:endParaRPr lang="en-IN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19196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541" y="513588"/>
            <a:ext cx="6347713" cy="13208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60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80" y="1663180"/>
            <a:ext cx="6347714" cy="4056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Need of Semantic Communication - </a:t>
            </a:r>
          </a:p>
          <a:p>
            <a:pPr marL="0" indent="0">
              <a:buNone/>
            </a:pPr>
            <a:endParaRPr sz="2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7362FE-2B15-F7EB-9620-F9E1276A0DEE}"/>
              </a:ext>
            </a:extLst>
          </p:cNvPr>
          <p:cNvSpPr txBox="1"/>
          <p:nvPr/>
        </p:nvSpPr>
        <p:spPr>
          <a:xfrm>
            <a:off x="317580" y="2148317"/>
            <a:ext cx="6558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Bahnschrift" panose="020B0502040204020203" pitchFamily="34" charset="0"/>
                <a:cs typeface="Arial" panose="020B0604020202020204" pitchFamily="34" charset="0"/>
              </a:rPr>
              <a:t>Motivation for Semantic Communication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ED42D-1B98-D9AE-C245-66D6A1F8BE76}"/>
              </a:ext>
            </a:extLst>
          </p:cNvPr>
          <p:cNvSpPr txBox="1"/>
          <p:nvPr/>
        </p:nvSpPr>
        <p:spPr>
          <a:xfrm>
            <a:off x="733486" y="2796933"/>
            <a:ext cx="77969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Efficient Data Transmission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Better Understanding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Reduced Network Load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Improves Reliability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Useful for AI Applications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Low Latency Communication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Throughput Improvement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Reduced Data Rate Requirement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Higher Efficiency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Low Latency (Faster Communication)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Better Quality of Service (QoS)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972" y="683150"/>
            <a:ext cx="8908027" cy="13208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60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Proposed System / 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60C535-8E86-C0D5-9CB6-5AE1B76B5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3" y="1933002"/>
            <a:ext cx="6347714" cy="385965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Current Problem Statement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AB77A-77A6-3CCD-B673-A8B86BE2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0" t="28924" r="8687" b="16295"/>
          <a:stretch>
            <a:fillRect/>
          </a:stretch>
        </p:blipFill>
        <p:spPr>
          <a:xfrm>
            <a:off x="1326044" y="3494214"/>
            <a:ext cx="7633882" cy="3240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2549C7-7BF4-708F-9669-05100E8A3D5C}"/>
              </a:ext>
            </a:extLst>
          </p:cNvPr>
          <p:cNvSpPr txBox="1"/>
          <p:nvPr/>
        </p:nvSpPr>
        <p:spPr>
          <a:xfrm>
            <a:off x="177964" y="2552647"/>
            <a:ext cx="9189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Face recognition system to detect whether HOD sir is in cabin or not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This system uses AI-based face recognition to automate cabin monitoring.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BA703-9823-777C-704B-88F4675DE997}"/>
              </a:ext>
            </a:extLst>
          </p:cNvPr>
          <p:cNvSpPr txBox="1"/>
          <p:nvPr/>
        </p:nvSpPr>
        <p:spPr>
          <a:xfrm>
            <a:off x="235973" y="3637108"/>
            <a:ext cx="440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 Block Diagram :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356" y="591902"/>
            <a:ext cx="6347713" cy="13208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sz="60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89" y="1841254"/>
            <a:ext cx="8720231" cy="4569456"/>
          </a:xfrm>
          <a:noFill/>
        </p:spPr>
        <p:txBody>
          <a:bodyPr wrap="square" rtlCol="0">
            <a:spAutoFit/>
          </a:bodyPr>
          <a:lstStyle/>
          <a:p>
            <a:pPr marL="342900" indent="-342900" algn="just" defTabSz="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Bahnschrift" panose="020B0502040204020203" pitchFamily="34" charset="0"/>
                <a:cs typeface="Arial" panose="020B0604020202020204" pitchFamily="34" charset="0"/>
              </a:rPr>
              <a:t>Sci Space website</a:t>
            </a:r>
          </a:p>
          <a:p>
            <a:pPr marL="342900" indent="-342900" algn="just" defTabSz="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Semantic Information Theory and Applications- </a:t>
            </a:r>
            <a:r>
              <a:rPr lang="en-US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Meixia</a:t>
            </a: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 Tao, Kai Niu, </a:t>
            </a:r>
            <a:r>
              <a:rPr lang="en-US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Youlong</a:t>
            </a: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 Wu (2023)</a:t>
            </a:r>
          </a:p>
          <a:p>
            <a:pPr marL="342900" indent="-342900" algn="just" defTabSz="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Feature-Driven Semantic Communication for Efficient Image Transmission- Ji Zhang, Ying Zhang, Baofeng Ji, </a:t>
            </a:r>
            <a:r>
              <a:rPr lang="en-US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Anmin</a:t>
            </a: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 Chen, </a:t>
            </a:r>
            <a:r>
              <a:rPr lang="en-US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Aoxue</a:t>
            </a: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 Liu, </a:t>
            </a:r>
            <a:r>
              <a:rPr lang="en-US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Hengzhou</a:t>
            </a: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 Xu (2023)</a:t>
            </a:r>
          </a:p>
          <a:p>
            <a:pPr marL="342900" indent="-342900" algn="just" defTabSz="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An Autoencoder-Based Task-Oriented Semantic Communication System for M2M Communication- Hao Xie, </a:t>
            </a:r>
            <a:r>
              <a:rPr lang="en-US" sz="2000" dirty="0" err="1">
                <a:latin typeface="Bahnschrift" panose="020B0502040204020203" pitchFamily="34" charset="0"/>
                <a:cs typeface="Arial" panose="020B0604020202020204" pitchFamily="34" charset="0"/>
              </a:rPr>
              <a:t>Zhijin</a:t>
            </a:r>
            <a:r>
              <a:rPr lang="en-US" sz="2000" dirty="0">
                <a:latin typeface="Bahnschrift" panose="020B0502040204020203" pitchFamily="34" charset="0"/>
                <a:cs typeface="Arial" panose="020B0604020202020204" pitchFamily="34" charset="0"/>
              </a:rPr>
              <a:t> Qin, Geoffrey Ye Li (2024)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Thank you your business png Vectors - Download Free High-Quality Vectors  from Freepik | Freepik">
            <a:extLst>
              <a:ext uri="{FF2B5EF4-FFF2-40B4-BE49-F238E27FC236}">
                <a16:creationId xmlns:a16="http://schemas.microsoft.com/office/drawing/2014/main" id="{BD427CE2-CC30-54DF-B5E2-19B3EB16F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996315"/>
            <a:ext cx="5511165" cy="5511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28119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524</TotalTime>
  <Words>726</Words>
  <Application>Microsoft Office PowerPoint</Application>
  <PresentationFormat>On-screen Show (4:3)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Aparajita</vt:lpstr>
      <vt:lpstr>Aptos</vt:lpstr>
      <vt:lpstr>Aptos Narrow</vt:lpstr>
      <vt:lpstr>Arial</vt:lpstr>
      <vt:lpstr>Arial Black</vt:lpstr>
      <vt:lpstr>Bahnschrift</vt:lpstr>
      <vt:lpstr>Cambria</vt:lpstr>
      <vt:lpstr>Century Gothic</vt:lpstr>
      <vt:lpstr>Wingdings</vt:lpstr>
      <vt:lpstr>Vapor Trail</vt:lpstr>
      <vt:lpstr>Design and Implementation of Semantic Communication</vt:lpstr>
      <vt:lpstr>Introduction</vt:lpstr>
      <vt:lpstr>PowerPoint Presentation</vt:lpstr>
      <vt:lpstr>PowerPoint Presentation</vt:lpstr>
      <vt:lpstr>Objectives of Semantic Communication</vt:lpstr>
      <vt:lpstr>PowerPoint Presentation</vt:lpstr>
      <vt:lpstr>Literature Review</vt:lpstr>
      <vt:lpstr>Problem Definition</vt:lpstr>
      <vt:lpstr>Proposed System / Methodology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Sonal</dc:creator>
  <cp:keywords/>
  <dc:description>generated using python-pptx</dc:description>
  <cp:lastModifiedBy>Sonal Surkar</cp:lastModifiedBy>
  <cp:revision>6</cp:revision>
  <dcterms:created xsi:type="dcterms:W3CDTF">2013-01-27T09:14:16Z</dcterms:created>
  <dcterms:modified xsi:type="dcterms:W3CDTF">2026-04-03T14:45:38Z</dcterms:modified>
  <cp:category/>
</cp:coreProperties>
</file>